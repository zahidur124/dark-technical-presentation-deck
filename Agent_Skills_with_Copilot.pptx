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Agent Skills is the new way Copilot loads task-specific know-how instead of you re-explaining it every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recurring workflow means retyping the same instructions, burning prompt budget, and getting slightly different results each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skill is a folder Copilot discovers and loads on its own — instructions plus any scripts or templates it needs, defined by a SKILL.md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 aren't a Copilot-only format. The spec lives at agentskills.io, so the same skill folder works unmodified across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 load in three stages so having many installed never blows up your context: names and descriptions first, full instructions only on match, resources only on demand.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 work across the surfaces developers actually use Copilot from, including the newly GA code review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your own scoped to a repo or personally, or install ready-made ones from shared community collections with a single CLI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takeaway: instructions are always-on context, skills are task-triggered. End with a concrete call to action to try one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670142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stop re-explaining yourself to Copilot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4029075"/>
            <a:ext cx="17811750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04"/>
              </a:lnSpc>
              <a:buNone/>
            </a:pPr>
            <a:r>
              <a:rPr lang="en-US" sz="11100" b="1" spc="-300" kern="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</a:t>
            </a:r>
            <a:endParaRPr lang="en-US" sz="11100" dirty="0"/>
          </a:p>
        </p:txBody>
      </p:sp>
      <p:sp>
        <p:nvSpPr>
          <p:cNvPr id="4" name="Text 2"/>
          <p:cNvSpPr/>
          <p:nvPr/>
        </p:nvSpPr>
        <p:spPr>
          <a:xfrm>
            <a:off x="1047750" y="5705475"/>
            <a:ext cx="525553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GitHub Copilot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996955" y="5715000"/>
            <a:ext cx="190500" cy="4191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9129713"/>
            <a:ext cx="434529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 · agentskills.io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62088"/>
            <a:ext cx="11282363" cy="1574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157"/>
              </a:lnSpc>
              <a:buNone/>
            </a:pPr>
            <a:r>
              <a:rPr lang="en-US" sz="5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Workflow, Re-Explained Every Time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47750" y="5194920"/>
            <a:ext cx="2591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21160" y="5194920"/>
            <a:ext cx="5109408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prompt re-burns tokens restating context Copilot already had once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047750" y="6897812"/>
            <a:ext cx="2591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21160" y="6897812"/>
            <a:ext cx="5109408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drift depending on how you phrased it that day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7239000" y="4589934"/>
            <a:ext cx="10001250" cy="1133475"/>
          </a:xfrm>
          <a:prstGeom prst="roundRect">
            <a:avLst>
              <a:gd name="adj" fmla="val 840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6175" y="4809009"/>
            <a:ext cx="920350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#142 · prompt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6175" y="5204296"/>
            <a:ext cx="920350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"run lint, check migration order, match our commit format..."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6830675" y="5080471"/>
            <a:ext cx="152400" cy="1524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2" name="Shape 10"/>
          <p:cNvSpPr/>
          <p:nvPr/>
        </p:nvSpPr>
        <p:spPr>
          <a:xfrm>
            <a:off x="7239000" y="5932959"/>
            <a:ext cx="10001250" cy="1133475"/>
          </a:xfrm>
          <a:prstGeom prst="roundRect">
            <a:avLst>
              <a:gd name="adj" fmla="val 840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6175" y="6152034"/>
            <a:ext cx="920350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#157 · prompt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96175" y="6547321"/>
            <a:ext cx="920350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"lint it, then check migrations are ordered, commit style..."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6830675" y="6423496"/>
            <a:ext cx="152400" cy="152400"/>
          </a:xfrm>
          <a:prstGeom prst="ellipse">
            <a:avLst/>
          </a:prstGeom>
          <a:solidFill>
            <a:srgbClr val="FFA657"/>
          </a:solidFill>
          <a:ln/>
        </p:spPr>
      </p:sp>
      <p:sp>
        <p:nvSpPr>
          <p:cNvPr id="16" name="Shape 14"/>
          <p:cNvSpPr/>
          <p:nvPr/>
        </p:nvSpPr>
        <p:spPr>
          <a:xfrm>
            <a:off x="7239000" y="7275984"/>
            <a:ext cx="10001250" cy="1133475"/>
          </a:xfrm>
          <a:prstGeom prst="roundRect">
            <a:avLst>
              <a:gd name="adj" fmla="val 840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6175" y="7495059"/>
            <a:ext cx="75438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#201 · prompt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96175" y="7890346"/>
            <a:ext cx="75438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"same as always — lint, migrations, commit msg..."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6830675" y="7766521"/>
            <a:ext cx="152400" cy="152400"/>
          </a:xfrm>
          <a:prstGeom prst="ellipse">
            <a:avLst/>
          </a:prstGeom>
          <a:solidFill>
            <a:srgbClr val="FF7B7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FIX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62088"/>
            <a:ext cx="17811750" cy="806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157"/>
              </a:lnSpc>
              <a:buNone/>
            </a:pPr>
            <a:r>
              <a:rPr lang="en-US" sz="5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an Agent Skill Is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47750" y="2515865"/>
            <a:ext cx="11282363" cy="1500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folder Copilot loads automatically when your task matches it — instructions, scripts, and resources bundled together, defined by a </a:t>
            </a:r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 </a:t>
            </a:r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4848225" y="4561359"/>
            <a:ext cx="8591550" cy="4761235"/>
          </a:xfrm>
          <a:prstGeom prst="roundRect">
            <a:avLst>
              <a:gd name="adj" fmla="val 2401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571500" dist="285750" dir="54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57750" y="4570884"/>
            <a:ext cx="8572500" cy="485775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4857750" y="5047134"/>
            <a:ext cx="8572500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8" name="Shape 6"/>
          <p:cNvSpPr/>
          <p:nvPr/>
        </p:nvSpPr>
        <p:spPr>
          <a:xfrm>
            <a:off x="5067300" y="4742334"/>
            <a:ext cx="133350" cy="1333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5295900" y="4742334"/>
            <a:ext cx="133350" cy="1333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5524500" y="4742334"/>
            <a:ext cx="133350" cy="1333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276850" y="5399559"/>
            <a:ext cx="7966329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6250"/>
              </a:lnSpc>
              <a:buNone/>
            </a:pPr>
            <a:r>
              <a:rPr lang="en-US" sz="2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619750" y="5906244"/>
            <a:ext cx="7623429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6250"/>
              </a:lnSpc>
              <a:buNone/>
            </a:pPr>
            <a:r>
              <a:rPr lang="en-US" sz="2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writing-tests/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962650" y="6412929"/>
            <a:ext cx="7280529" cy="568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6250"/>
              </a:lnSpc>
              <a:buNone/>
            </a:pPr>
            <a:r>
              <a:rPr lang="en-US" sz="21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962650" y="6943427"/>
            <a:ext cx="7280529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6250"/>
              </a:lnSpc>
              <a:buNone/>
            </a:pPr>
            <a:r>
              <a:rPr lang="en-US" sz="2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305550" y="7450113"/>
            <a:ext cx="6937629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6250"/>
              </a:lnSpc>
              <a:buNone/>
            </a:pPr>
            <a:r>
              <a:rPr lang="en-US" sz="2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run-tests.sh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962650" y="7956798"/>
            <a:ext cx="7280529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6250"/>
              </a:lnSpc>
              <a:buNone/>
            </a:pPr>
            <a:r>
              <a:rPr lang="en-US" sz="2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305550" y="8463483"/>
            <a:ext cx="6937629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6250"/>
              </a:lnSpc>
              <a:buNone/>
            </a:pPr>
            <a:r>
              <a:rPr lang="en-US" sz="2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test-case.md.tmpl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STANDARD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62088"/>
            <a:ext cx="17811750" cy="806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157"/>
              </a:lnSpc>
              <a:buNone/>
            </a:pPr>
            <a:r>
              <a:rPr lang="en-US" sz="5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an Open Standard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47750" y="2515865"/>
            <a:ext cx="11772900" cy="1014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</a:t>
            </a:r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 </a:t>
            </a:r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format, defined at </a:t>
            </a:r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agentskills.io </a:t>
            </a:r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same skill folder runs unmodified across agents.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7124700" y="5584627"/>
            <a:ext cx="4038600" cy="776288"/>
          </a:xfrm>
          <a:prstGeom prst="roundRect">
            <a:avLst>
              <a:gd name="adj" fmla="val 1227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15225" y="5784652"/>
            <a:ext cx="3378708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agentskills.io spec</a:t>
            </a:r>
            <a:endParaRPr lang="en-US" sz="2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57750" y="6360914"/>
            <a:ext cx="8572500" cy="6667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73885" y="7027664"/>
            <a:ext cx="2670870" cy="785813"/>
          </a:xfrm>
          <a:prstGeom prst="roundRect">
            <a:avLst>
              <a:gd name="adj" fmla="val 9697"/>
            </a:avLst>
          </a:prstGeom>
          <a:solidFill>
            <a:srgbClr val="161B22"/>
          </a:solidFill>
          <a:ln/>
        </p:spPr>
      </p:sp>
      <p:sp>
        <p:nvSpPr>
          <p:cNvPr id="9" name="Shape 6"/>
          <p:cNvSpPr/>
          <p:nvPr/>
        </p:nvSpPr>
        <p:spPr>
          <a:xfrm>
            <a:off x="4773885" y="7803952"/>
            <a:ext cx="2670870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0" name="Shape 7"/>
          <p:cNvSpPr/>
          <p:nvPr/>
        </p:nvSpPr>
        <p:spPr>
          <a:xfrm>
            <a:off x="4773885" y="7027664"/>
            <a:ext cx="2670870" cy="28575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Shape 8"/>
          <p:cNvSpPr/>
          <p:nvPr/>
        </p:nvSpPr>
        <p:spPr>
          <a:xfrm>
            <a:off x="4773885" y="7027664"/>
            <a:ext cx="9525" cy="785813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2" name="Shape 9"/>
          <p:cNvSpPr/>
          <p:nvPr/>
        </p:nvSpPr>
        <p:spPr>
          <a:xfrm>
            <a:off x="7435230" y="7027664"/>
            <a:ext cx="9525" cy="785813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3" name="Text 10"/>
          <p:cNvSpPr/>
          <p:nvPr/>
        </p:nvSpPr>
        <p:spPr>
          <a:xfrm>
            <a:off x="5069160" y="7265789"/>
            <a:ext cx="216044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Copilot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7787655" y="7027664"/>
            <a:ext cx="2225055" cy="785813"/>
          </a:xfrm>
          <a:prstGeom prst="roundRect">
            <a:avLst>
              <a:gd name="adj" fmla="val 9697"/>
            </a:avLst>
          </a:prstGeom>
          <a:solidFill>
            <a:srgbClr val="161B22"/>
          </a:solidFill>
          <a:ln/>
        </p:spPr>
      </p:sp>
      <p:sp>
        <p:nvSpPr>
          <p:cNvPr id="15" name="Shape 12"/>
          <p:cNvSpPr/>
          <p:nvPr/>
        </p:nvSpPr>
        <p:spPr>
          <a:xfrm>
            <a:off x="7787655" y="7803952"/>
            <a:ext cx="2225055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6" name="Shape 13"/>
          <p:cNvSpPr/>
          <p:nvPr/>
        </p:nvSpPr>
        <p:spPr>
          <a:xfrm>
            <a:off x="7787655" y="7027664"/>
            <a:ext cx="2225055" cy="28575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7" name="Shape 14"/>
          <p:cNvSpPr/>
          <p:nvPr/>
        </p:nvSpPr>
        <p:spPr>
          <a:xfrm>
            <a:off x="7787655" y="7027664"/>
            <a:ext cx="9525" cy="785813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8" name="Shape 15"/>
          <p:cNvSpPr/>
          <p:nvPr/>
        </p:nvSpPr>
        <p:spPr>
          <a:xfrm>
            <a:off x="10003185" y="7027664"/>
            <a:ext cx="9525" cy="785813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9" name="Text 16"/>
          <p:cNvSpPr/>
          <p:nvPr/>
        </p:nvSpPr>
        <p:spPr>
          <a:xfrm>
            <a:off x="8082930" y="7265789"/>
            <a:ext cx="171070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Code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10355610" y="7027664"/>
            <a:ext cx="1333500" cy="785813"/>
          </a:xfrm>
          <a:prstGeom prst="roundRect">
            <a:avLst>
              <a:gd name="adj" fmla="val 9697"/>
            </a:avLst>
          </a:prstGeom>
          <a:solidFill>
            <a:srgbClr val="161B22"/>
          </a:solidFill>
          <a:ln/>
        </p:spPr>
      </p:sp>
      <p:sp>
        <p:nvSpPr>
          <p:cNvPr id="21" name="Shape 18"/>
          <p:cNvSpPr/>
          <p:nvPr/>
        </p:nvSpPr>
        <p:spPr>
          <a:xfrm>
            <a:off x="10355610" y="7803952"/>
            <a:ext cx="1333500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2" name="Shape 19"/>
          <p:cNvSpPr/>
          <p:nvPr/>
        </p:nvSpPr>
        <p:spPr>
          <a:xfrm>
            <a:off x="10355610" y="7027664"/>
            <a:ext cx="1333500" cy="28575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23" name="Shape 20"/>
          <p:cNvSpPr/>
          <p:nvPr/>
        </p:nvSpPr>
        <p:spPr>
          <a:xfrm>
            <a:off x="10355610" y="7027664"/>
            <a:ext cx="9525" cy="785813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4" name="Shape 21"/>
          <p:cNvSpPr/>
          <p:nvPr/>
        </p:nvSpPr>
        <p:spPr>
          <a:xfrm>
            <a:off x="11679585" y="7027664"/>
            <a:ext cx="9525" cy="785813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5" name="Text 22"/>
          <p:cNvSpPr/>
          <p:nvPr/>
        </p:nvSpPr>
        <p:spPr>
          <a:xfrm>
            <a:off x="10650885" y="7265789"/>
            <a:ext cx="8191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Codex</a:t>
            </a:r>
            <a:endParaRPr lang="en-US" sz="1950" dirty="0"/>
          </a:p>
        </p:txBody>
      </p:sp>
      <p:sp>
        <p:nvSpPr>
          <p:cNvPr id="26" name="Shape 23"/>
          <p:cNvSpPr/>
          <p:nvPr/>
        </p:nvSpPr>
        <p:spPr>
          <a:xfrm>
            <a:off x="12032010" y="7027664"/>
            <a:ext cx="1482105" cy="785813"/>
          </a:xfrm>
          <a:prstGeom prst="roundRect">
            <a:avLst>
              <a:gd name="adj" fmla="val 9697"/>
            </a:avLst>
          </a:prstGeom>
          <a:solidFill>
            <a:srgbClr val="161B22"/>
          </a:solidFill>
          <a:ln/>
        </p:spPr>
      </p:sp>
      <p:sp>
        <p:nvSpPr>
          <p:cNvPr id="27" name="Shape 24"/>
          <p:cNvSpPr/>
          <p:nvPr/>
        </p:nvSpPr>
        <p:spPr>
          <a:xfrm>
            <a:off x="12032010" y="7803952"/>
            <a:ext cx="1482105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8" name="Shape 25"/>
          <p:cNvSpPr/>
          <p:nvPr/>
        </p:nvSpPr>
        <p:spPr>
          <a:xfrm>
            <a:off x="12032010" y="7027664"/>
            <a:ext cx="1482105" cy="28575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9" name="Shape 26"/>
          <p:cNvSpPr/>
          <p:nvPr/>
        </p:nvSpPr>
        <p:spPr>
          <a:xfrm>
            <a:off x="12032010" y="7027664"/>
            <a:ext cx="9525" cy="785813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0" name="Shape 27"/>
          <p:cNvSpPr/>
          <p:nvPr/>
        </p:nvSpPr>
        <p:spPr>
          <a:xfrm>
            <a:off x="13504590" y="7027664"/>
            <a:ext cx="9525" cy="785813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1" name="Text 28"/>
          <p:cNvSpPr/>
          <p:nvPr/>
        </p:nvSpPr>
        <p:spPr>
          <a:xfrm>
            <a:off x="12327285" y="7265789"/>
            <a:ext cx="96775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LOADING WORKS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62088"/>
            <a:ext cx="16678275" cy="1574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157"/>
              </a:lnSpc>
              <a:buNone/>
            </a:pPr>
            <a:r>
              <a:rPr lang="en-US" sz="5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Disclosure Keeps Context Small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47750" y="5029051"/>
            <a:ext cx="4888929" cy="2098328"/>
          </a:xfrm>
          <a:prstGeom prst="roundRect">
            <a:avLst>
              <a:gd name="adj" fmla="val 544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81125" y="5381476"/>
            <a:ext cx="464439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DISCOVERY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381125" y="5833914"/>
            <a:ext cx="759991" cy="76200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1381125" y="6081564"/>
            <a:ext cx="434884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+ description for every installed skill, always scanned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203379" y="5825803"/>
            <a:ext cx="30561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699498" y="5029051"/>
            <a:ext cx="4889004" cy="2098328"/>
          </a:xfrm>
          <a:prstGeom prst="roundRect">
            <a:avLst>
              <a:gd name="adj" fmla="val 544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32873" y="5381476"/>
            <a:ext cx="464447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INSTRUCTIONS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7032873" y="5833914"/>
            <a:ext cx="2195513" cy="76200"/>
          </a:xfrm>
          <a:prstGeom prst="roundRect">
            <a:avLst>
              <a:gd name="adj" fmla="val 50000"/>
            </a:avLst>
          </a:prstGeom>
          <a:solidFill>
            <a:srgbClr val="BC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7032873" y="6081564"/>
            <a:ext cx="4348922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SKILL.md body, loaded only when the task matches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855202" y="5825803"/>
            <a:ext cx="30561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2351321" y="5029051"/>
            <a:ext cx="4888929" cy="2098328"/>
          </a:xfrm>
          <a:prstGeom prst="roundRect">
            <a:avLst>
              <a:gd name="adj" fmla="val 544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84696" y="5381476"/>
            <a:ext cx="464439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RESOURCES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2684696" y="5833914"/>
            <a:ext cx="4222179" cy="76200"/>
          </a:xfrm>
          <a:prstGeom prst="roundRect">
            <a:avLst>
              <a:gd name="adj" fmla="val 50000"/>
            </a:avLst>
          </a:prstGeom>
          <a:solidFill>
            <a:srgbClr val="FFA657"/>
          </a:solidFill>
          <a:ln/>
        </p:spPr>
      </p:sp>
      <p:sp>
        <p:nvSpPr>
          <p:cNvPr id="17" name="Text 15"/>
          <p:cNvSpPr/>
          <p:nvPr/>
        </p:nvSpPr>
        <p:spPr>
          <a:xfrm>
            <a:off x="12684696" y="6081564"/>
            <a:ext cx="434884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Scripts, templates, files — pulled in only on demand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47750" y="9101138"/>
            <a:ext cx="178117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 dozens of skills — only the ones matching your task ever cost real context.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SURFACES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62088"/>
            <a:ext cx="17811750" cy="806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157"/>
              </a:lnSpc>
              <a:buNone/>
            </a:pPr>
            <a:r>
              <a:rPr lang="en-US" sz="5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Run Everywhere You Do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47750" y="2763515"/>
            <a:ext cx="7962900" cy="3199730"/>
          </a:xfrm>
          <a:prstGeom prst="roundRect">
            <a:avLst>
              <a:gd name="adj" fmla="val 357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9225" y="3951387"/>
            <a:ext cx="794194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9225" y="4384774"/>
            <a:ext cx="794194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coding agent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277350" y="2763515"/>
            <a:ext cx="7962900" cy="3199730"/>
          </a:xfrm>
          <a:prstGeom prst="roundRect">
            <a:avLst>
              <a:gd name="adj" fmla="val 357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48825" y="3951387"/>
            <a:ext cx="794194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48825" y="4384774"/>
            <a:ext cx="794194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CLI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047750" y="6229945"/>
            <a:ext cx="7962900" cy="3199805"/>
          </a:xfrm>
          <a:prstGeom prst="roundRect">
            <a:avLst>
              <a:gd name="adj" fmla="val 357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9225" y="7417891"/>
            <a:ext cx="794194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CODE · JETBRAINS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9225" y="7851279"/>
            <a:ext cx="794194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mode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277350" y="6229945"/>
            <a:ext cx="7962900" cy="3199805"/>
          </a:xfrm>
          <a:prstGeom prst="roundRect">
            <a:avLst>
              <a:gd name="adj" fmla="val 357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226382" y="6468070"/>
            <a:ext cx="1737643" cy="352425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/>
        </p:spPr>
      </p:sp>
      <p:sp>
        <p:nvSpPr>
          <p:cNvPr id="15" name="Text 13"/>
          <p:cNvSpPr/>
          <p:nvPr/>
        </p:nvSpPr>
        <p:spPr>
          <a:xfrm>
            <a:off x="15340682" y="6515695"/>
            <a:ext cx="16828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 JUL 2026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48825" y="7417891"/>
            <a:ext cx="794194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 REQUESTS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48825" y="7851279"/>
            <a:ext cx="794194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code review</a:t>
            </a:r>
            <a:endParaRPr 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GETTING SKILLS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62088"/>
            <a:ext cx="17811750" cy="806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157"/>
              </a:lnSpc>
              <a:buNone/>
            </a:pPr>
            <a:r>
              <a:rPr lang="en-US" sz="5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One, or Install One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47750" y="2763515"/>
            <a:ext cx="827198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own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047750" y="3420740"/>
            <a:ext cx="827198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scope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047750" y="3873178"/>
            <a:ext cx="2838450" cy="700088"/>
          </a:xfrm>
          <a:prstGeom prst="roundRect">
            <a:avLst>
              <a:gd name="adj" fmla="val 1088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6825" y="4035103"/>
            <a:ext cx="2485454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.github/skills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47750" y="4859015"/>
            <a:ext cx="827198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scope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47750" y="5311453"/>
            <a:ext cx="3352800" cy="700088"/>
          </a:xfrm>
          <a:prstGeom prst="roundRect">
            <a:avLst>
              <a:gd name="adj" fmla="val 1088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6825" y="5473378"/>
            <a:ext cx="3015234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~/.copilot/skills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139238" y="2763515"/>
            <a:ext cx="9525" cy="666623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2" name="Text 10"/>
          <p:cNvSpPr/>
          <p:nvPr/>
        </p:nvSpPr>
        <p:spPr>
          <a:xfrm>
            <a:off x="9720263" y="2763515"/>
            <a:ext cx="827198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a collection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720263" y="3420740"/>
            <a:ext cx="8271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anthropics/skills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720263" y="3925565"/>
            <a:ext cx="8271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github/awesome-copilot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720263" y="4639940"/>
            <a:ext cx="4514850" cy="752475"/>
          </a:xfrm>
          <a:prstGeom prst="roundRect">
            <a:avLst>
              <a:gd name="adj" fmla="val 10127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77438" y="4839965"/>
            <a:ext cx="413594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skill install &lt;name&gt;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TAKEAWAY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62088"/>
            <a:ext cx="17811750" cy="806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157"/>
              </a:lnSpc>
              <a:buNone/>
            </a:pPr>
            <a:r>
              <a:rPr lang="en-US" sz="5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vs. Instructions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47750" y="2763515"/>
            <a:ext cx="7905750" cy="2092523"/>
          </a:xfrm>
          <a:prstGeom prst="roundRect">
            <a:avLst>
              <a:gd name="adj" fmla="val 546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38275" y="3115940"/>
            <a:ext cx="783717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38275" y="3596953"/>
            <a:ext cx="783717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on. Loaded into every single request.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34500" y="2763515"/>
            <a:ext cx="7905750" cy="2092523"/>
          </a:xfrm>
          <a:prstGeom prst="roundRect">
            <a:avLst>
              <a:gd name="adj" fmla="val 5462"/>
            </a:avLst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25025" y="3115940"/>
            <a:ext cx="783717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725025" y="3596953"/>
            <a:ext cx="7338441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Task-triggered. Loaded on demand, only when relevant.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047750" y="8434388"/>
            <a:ext cx="293415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455465" y="8434388"/>
            <a:ext cx="9555480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skill install awesome-copilot/&lt;skill&gt;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10332765" y="8493919"/>
            <a:ext cx="171450" cy="36195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91059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one from github/awesome-copilot today.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2026-08-27T13:24:41Z</dcterms:created>
  <dcterms:modified xsi:type="dcterms:W3CDTF">2026-08-27T13:24:41Z</dcterms:modified>
</cp:coreProperties>
</file>