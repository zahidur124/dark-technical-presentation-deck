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premise: Copilot is great out of the box, but every team has conventions it doesn't know — naming patterns, test frameworks, deployment steps. Agent Skills are an open standard: a folder of Markdown that teaches Copilot your team's specific procedures. They work across agents, not just Copilot. Start with the failure modes the audience already recognizes.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 row by row. Instructions are always-on baseline rules — short, global. Skills are the middle layer: loaded on demand when the model decides they're relevant based on the description. Agents are full personas invoked by name. The key insight is progressive disclosure: forty skills can exist and cost almost nothing until the model actually needs one. It reads name + description first, then pulls the full SKILL.md only on a match.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reference slide people will photograph. Walk through the file tree on the left — SKILL.md is the only required file, everything else is optional and loaded only if the instructions reference it. On the right, highlight the frontmatter: name and description are the model's entry point. The numbered steps below are what the model actually follows. Directory names are lowercase-hyphenated, matching the frontmatter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important design decision when writing a skill. The description field is the only text the model reads when choosing whether to load a skill. A vague description means the skill never fires. A good one names the exact trigger words your teammates would type. Walk through the bad example — 'Testing helper' tells the model nothing. The good example names the task, the tools, and the trigger phrases. Think of it like an API contract: the input is a user's prompt, the output is whether the skill gets 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call to action. Walk through the terminal commands — it's genuinely four lines to get a skill running. Then mention the shortcuts: the Anthropic skill-creator scaffolds skills through an interview, awesome-copilot is a community index, and `gh skill` is the CLI for discovering and installing from repos. Cover scope briefly: project scope is committed with the repo, personal scope lives in your home directory. Skills work everywhere Copilot does — cloud agent, code review, CLI, the app, and agent mode in VS Code and JetBrains.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 good column first — these are the patterns that work. Then the bad column — things people do that make skills fail or bloat context. The debugging strip at the bottom is the quick reference they'll screenshot. Close with the takeaway: pick the thing your team explains to every new hire, write it as one SKILL.md, commit it. This is an open standard — the same folder works with Claude Code, Codex, Cursor. You're not writing it for one vendor.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98" kern="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.github/skills/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52500" y="1395413"/>
            <a:ext cx="1802130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422"/>
              </a:lnSpc>
              <a:buNone/>
            </a:pPr>
            <a:r>
              <a:rPr lang="en-US" sz="5400" b="1" spc="-108" kern="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Skills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52500" y="2264048"/>
            <a:ext cx="1802130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77"/>
              </a:lnSpc>
              <a:buNone/>
            </a:pPr>
            <a:r>
              <a:rPr lang="en-US" sz="31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Copilot your team's playbook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52500" y="7525792"/>
            <a:ext cx="28575" cy="199920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6" name="Text 4"/>
          <p:cNvSpPr/>
          <p:nvPr/>
        </p:nvSpPr>
        <p:spPr>
          <a:xfrm>
            <a:off x="1247775" y="7525792"/>
            <a:ext cx="1769649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59" kern="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SKILLS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47775" y="7978229"/>
            <a:ext cx="1769649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prompt, three different answers — none match your conventions.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47775" y="8538270"/>
            <a:ext cx="1769649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comment "we don't do it that way here" — for the fifth time.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47775" y="9098310"/>
            <a:ext cx="1769649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900-line </a:t>
            </a:r>
            <a:pPr algn="l" indent="0" marL="0">
              <a:lnSpc>
                <a:spcPct val="121081"/>
              </a:lnSpc>
              <a:buNone/>
            </a:pPr>
            <a:r>
              <a:rPr lang="en-US" sz="21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copilot-instructions.md </a:t>
            </a:r>
            <a:pPr algn="l" indent="0" marL="0">
              <a:lnSpc>
                <a:spcPct val="121081"/>
              </a:lnSpc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maintains.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of Customization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109788"/>
            <a:ext cx="16383000" cy="628650"/>
          </a:xfrm>
          <a:custGeom>
            <a:avLst/>
            <a:gdLst/>
            <a:ahLst/>
            <a:cxnLst/>
            <a:rect l="l" t="t" r="r" b="b"/>
            <a:pathLst>
              <a:path w="16383000" h="628650">
                <a:moveTo>
                  <a:pt x="76200" y="0"/>
                </a:moveTo>
                <a:lnTo>
                  <a:pt x="16306800" y="0"/>
                </a:lnTo>
                <a:arcTo hR="76200" wR="76200" stAng="16200000" swAng="5400000"/>
                <a:lnTo>
                  <a:pt x="16383000" y="628650"/>
                </a:lnTo>
                <a:lnTo>
                  <a:pt x="0" y="628650"/>
                </a:lnTo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1A1A35"/>
          </a:solidFill>
          <a:ln/>
        </p:spPr>
      </p:sp>
      <p:sp>
        <p:nvSpPr>
          <p:cNvPr id="4" name="Text 2"/>
          <p:cNvSpPr/>
          <p:nvPr/>
        </p:nvSpPr>
        <p:spPr>
          <a:xfrm>
            <a:off x="1181100" y="2281238"/>
            <a:ext cx="2514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3467100" y="2281238"/>
            <a:ext cx="64541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334500" y="2281238"/>
            <a:ext cx="20955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239500" y="2281238"/>
            <a:ext cx="64541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52500" y="2738438"/>
            <a:ext cx="16383000" cy="795338"/>
          </a:xfrm>
          <a:prstGeom prst="rect">
            <a:avLst/>
          </a:prstGeom>
          <a:solidFill>
            <a:srgbClr val="13132A"/>
          </a:solidFill>
          <a:ln/>
        </p:spPr>
      </p:sp>
      <p:sp>
        <p:nvSpPr>
          <p:cNvPr id="9" name="Shape 7"/>
          <p:cNvSpPr/>
          <p:nvPr/>
        </p:nvSpPr>
        <p:spPr>
          <a:xfrm>
            <a:off x="952500" y="3524250"/>
            <a:ext cx="1638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2947988"/>
            <a:ext cx="25146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67100" y="2981325"/>
            <a:ext cx="6454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.github/copilot-instructions.md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34500" y="2947988"/>
            <a:ext cx="20955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239500" y="2947988"/>
            <a:ext cx="645414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baseline rules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52500" y="3533775"/>
            <a:ext cx="16383000" cy="795338"/>
          </a:xfrm>
          <a:prstGeom prst="rect">
            <a:avLst/>
          </a:prstGeom>
          <a:solidFill>
            <a:srgbClr val="00E5A0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4319588"/>
            <a:ext cx="16383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2500" y="3533775"/>
            <a:ext cx="28575" cy="79533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7" name="Text 15"/>
          <p:cNvSpPr/>
          <p:nvPr/>
        </p:nvSpPr>
        <p:spPr>
          <a:xfrm>
            <a:off x="1209675" y="3743325"/>
            <a:ext cx="25146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95675" y="3776662"/>
            <a:ext cx="6438424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.github/skills/&lt;name&gt;/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48788" y="3743325"/>
            <a:ext cx="20955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demand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253788" y="3743325"/>
            <a:ext cx="6438424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procedures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52500" y="4329113"/>
            <a:ext cx="16383000" cy="785813"/>
          </a:xfrm>
          <a:custGeom>
            <a:avLst/>
            <a:gdLst/>
            <a:ahLst/>
            <a:cxnLst/>
            <a:rect l="l" t="t" r="r" b="b"/>
            <a:pathLst>
              <a:path w="16383000" h="785813">
                <a:moveTo>
                  <a:pt x="0" y="0"/>
                </a:moveTo>
                <a:lnTo>
                  <a:pt x="16383000" y="0"/>
                </a:lnTo>
                <a:lnTo>
                  <a:pt x="16383000" y="709613"/>
                </a:lnTo>
                <a:arcTo hR="76200" wR="76200" stAng="0" swAng="5400000"/>
                <a:lnTo>
                  <a:pt x="76200" y="785813"/>
                </a:lnTo>
                <a:arcTo hR="76200" wR="76200" stAng="5400000" swAng="5400000"/>
                <a:lnTo>
                  <a:pt x="0" y="0"/>
                </a:lnTo>
                <a:close/>
              </a:path>
            </a:pathLst>
          </a:custGeom>
          <a:solidFill>
            <a:srgbClr val="13132A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" y="4538663"/>
            <a:ext cx="25146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467100" y="4572000"/>
            <a:ext cx="645414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.github/agents/&lt;name&gt;.agent.md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34500" y="4538663"/>
            <a:ext cx="20955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name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1239500" y="4538663"/>
            <a:ext cx="645414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Orchestrating a role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52500" y="9153525"/>
            <a:ext cx="180213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disclosure — the model sees only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front. 40 skills cost almost nothing until needed.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Skill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109788"/>
            <a:ext cx="4000500" cy="7415213"/>
          </a:xfrm>
          <a:prstGeom prst="roundRect">
            <a:avLst>
              <a:gd name="adj" fmla="val 2381"/>
            </a:avLst>
          </a:prstGeom>
          <a:solidFill>
            <a:srgbClr val="13132A"/>
          </a:solidFill>
          <a:ln/>
        </p:spPr>
      </p:sp>
      <p:sp>
        <p:nvSpPr>
          <p:cNvPr id="4" name="Text 2"/>
          <p:cNvSpPr/>
          <p:nvPr/>
        </p:nvSpPr>
        <p:spPr>
          <a:xfrm>
            <a:off x="1257300" y="2414588"/>
            <a:ext cx="3492627" cy="48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950" b="1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tree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57300" y="3012728"/>
            <a:ext cx="3492627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your-repo/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424163"/>
            <a:ext cx="3492627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.github/skills/webapp-testing/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57300" y="4658469"/>
            <a:ext cx="3492627" cy="468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</a:t>
            </a:r>
            <a:pPr algn="l" indent="0" marL="0">
              <a:lnSpc>
                <a:spcPct val="160000"/>
              </a:lnSpc>
              <a:buNone/>
            </a:pPr>
            <a:r>
              <a:rPr lang="en-US" sz="1800" b="1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57300" y="5088954"/>
            <a:ext cx="3492627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5500390"/>
            <a:ext cx="3492627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references/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57300" y="5911825"/>
            <a:ext cx="3492627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assets/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57300" y="6513761"/>
            <a:ext cx="3729990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required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57300" y="6879506"/>
            <a:ext cx="3492627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 optional — executable code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57300" y="7610996"/>
            <a:ext cx="3492627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 optional — deeper docs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57300" y="8342486"/>
            <a:ext cx="3492627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 optional — templates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34000" y="2109788"/>
            <a:ext cx="12001500" cy="7415213"/>
          </a:xfrm>
          <a:prstGeom prst="roundRect">
            <a:avLst>
              <a:gd name="adj" fmla="val 1285"/>
            </a:avLst>
          </a:prstGeom>
          <a:solidFill>
            <a:srgbClr val="13132A"/>
          </a:solidFill>
          <a:ln/>
        </p:spPr>
      </p:sp>
      <p:sp>
        <p:nvSpPr>
          <p:cNvPr id="16" name="Text 14"/>
          <p:cNvSpPr/>
          <p:nvPr/>
        </p:nvSpPr>
        <p:spPr>
          <a:xfrm>
            <a:off x="5638800" y="2414588"/>
            <a:ext cx="11733657" cy="459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7333"/>
              </a:lnSpc>
              <a:buNone/>
            </a:pPr>
            <a:r>
              <a:rPr lang="en-US" sz="1950" b="1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638800" y="2987948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38800" y="3376538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webapp-testing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38800" y="3765128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&gt;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67400" y="4153719"/>
            <a:ext cx="115050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and runs E2E tests for the web app.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67400" y="4542309"/>
            <a:ext cx="115050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when the task mentions tests, testing,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67400" y="4930899"/>
            <a:ext cx="115050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Playwright, or E2E.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38800" y="5319489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638800" y="5822379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38800" y="6287170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Check </a:t>
            </a:r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playwright.config.ts </a:t>
            </a:r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38800" y="6675760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Read </a:t>
            </a:r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references/test-patterns.md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38800" y="7064350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Write tests in </a:t>
            </a:r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tests/e2e/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638800" y="7452940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Run </a:t>
            </a:r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scripts/run-tests.sh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38800" y="7841531"/>
            <a:ext cx="11733657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Fix failures, re-run until green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Description Is the API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2109788"/>
            <a:ext cx="117729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sees </a:t>
            </a:r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</a:t>
            </a:r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deciding whether to load the skill. Nothing else.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52500" y="3405188"/>
            <a:ext cx="8801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52500" y="3881438"/>
            <a:ext cx="8001000" cy="1135335"/>
          </a:xfrm>
          <a:prstGeom prst="roundRect">
            <a:avLst>
              <a:gd name="adj" fmla="val 8390"/>
            </a:avLst>
          </a:prstGeom>
          <a:solidFill>
            <a:srgbClr val="13132A"/>
          </a:solidFill>
          <a:ln w="19050">
            <a:solidFill>
              <a:srgbClr val="FF6B6B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6350" y="4205288"/>
            <a:ext cx="8088630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24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"Testing helper"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0600" y="5207273"/>
            <a:ext cx="8717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trigger words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600" y="5693048"/>
            <a:ext cx="8717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Doesn't name the framework or task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0600" y="6178823"/>
            <a:ext cx="8717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can't match against user prompts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334500" y="3405188"/>
            <a:ext cx="8801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34500" y="3881438"/>
            <a:ext cx="8001000" cy="1882006"/>
          </a:xfrm>
          <a:prstGeom prst="roundRect">
            <a:avLst>
              <a:gd name="adj" fmla="val 5061"/>
            </a:avLst>
          </a:prstGeom>
          <a:solidFill>
            <a:srgbClr val="13132A"/>
          </a:solidFill>
          <a:ln w="19050">
            <a:solidFill>
              <a:srgbClr val="00E5A0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58350" y="4205288"/>
            <a:ext cx="7573899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1639"/>
              </a:lnSpc>
              <a:buNone/>
            </a:pPr>
            <a:r>
              <a:rPr lang="en-US" sz="2025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"Writes and runs E2E tests for the web app. Use when the task mentions </a:t>
            </a:r>
            <a:pPr algn="l" indent="0" marL="0">
              <a:lnSpc>
                <a:spcPct val="141639"/>
              </a:lnSpc>
              <a:buNone/>
            </a:pPr>
            <a:r>
              <a:rPr lang="en-US" sz="2025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pPr algn="l" indent="0" marL="0">
              <a:lnSpc>
                <a:spcPct val="141639"/>
              </a:lnSpc>
              <a:buNone/>
            </a:pPr>
            <a:r>
              <a:rPr lang="en-US" sz="2025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1639"/>
              </a:lnSpc>
              <a:buNone/>
            </a:pPr>
            <a:r>
              <a:rPr lang="en-US" sz="2025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pPr algn="l" indent="0" marL="0">
              <a:lnSpc>
                <a:spcPct val="141639"/>
              </a:lnSpc>
              <a:buNone/>
            </a:pPr>
            <a:r>
              <a:rPr lang="en-US" sz="2025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ct val="141639"/>
              </a:lnSpc>
              <a:buNone/>
            </a:pPr>
            <a:r>
              <a:rPr lang="en-US" sz="2025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</a:t>
            </a:r>
            <a:pPr algn="l" indent="0" marL="0">
              <a:lnSpc>
                <a:spcPct val="141639"/>
              </a:lnSpc>
              <a:buNone/>
            </a:pPr>
            <a:r>
              <a:rPr lang="en-US" sz="2025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or </a:t>
            </a:r>
            <a:pPr algn="l" indent="0" marL="0">
              <a:lnSpc>
                <a:spcPct val="141639"/>
              </a:lnSpc>
              <a:buNone/>
            </a:pPr>
            <a:r>
              <a:rPr lang="en-US" sz="2025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E2E</a:t>
            </a:r>
            <a:pPr algn="l" indent="0" marL="0">
              <a:lnSpc>
                <a:spcPct val="141639"/>
              </a:lnSpc>
              <a:buNone/>
            </a:pPr>
            <a:r>
              <a:rPr lang="en-US" sz="2025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."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372600" y="5953944"/>
            <a:ext cx="8717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exact task and scope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372600" y="6439719"/>
            <a:ext cx="8717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trigger words the user would type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372600" y="6925494"/>
            <a:ext cx="871728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can confidently match or skip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500" y="8772525"/>
            <a:ext cx="16383000" cy="752475"/>
          </a:xfrm>
          <a:prstGeom prst="roundRect">
            <a:avLst>
              <a:gd name="adj" fmla="val 10127"/>
            </a:avLst>
          </a:prstGeom>
          <a:solidFill>
            <a:srgbClr val="13132A"/>
          </a:solidFill>
          <a:ln/>
        </p:spPr>
      </p:sp>
      <p:sp>
        <p:nvSpPr>
          <p:cNvPr id="17" name="Text 15"/>
          <p:cNvSpPr/>
          <p:nvPr/>
        </p:nvSpPr>
        <p:spPr>
          <a:xfrm>
            <a:off x="1219200" y="8963025"/>
            <a:ext cx="17434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thumb: </a:t>
            </a:r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trigger words your teammates would actually type.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One in Five Minutes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109788"/>
            <a:ext cx="8001000" cy="7415213"/>
          </a:xfrm>
          <a:prstGeom prst="roundRect">
            <a:avLst>
              <a:gd name="adj" fmla="val 1285"/>
            </a:avLst>
          </a:prstGeom>
          <a:solidFill>
            <a:srgbClr val="0A0A18"/>
          </a:solidFill>
          <a:ln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66825" y="2424113"/>
            <a:ext cx="114300" cy="11430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5" name="Shape 3"/>
          <p:cNvSpPr/>
          <p:nvPr/>
        </p:nvSpPr>
        <p:spPr>
          <a:xfrm>
            <a:off x="1457325" y="2424113"/>
            <a:ext cx="114300" cy="114300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6" name="Shape 4"/>
          <p:cNvSpPr/>
          <p:nvPr/>
        </p:nvSpPr>
        <p:spPr>
          <a:xfrm>
            <a:off x="1647825" y="2424113"/>
            <a:ext cx="114300" cy="11430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7" name="Text 5"/>
          <p:cNvSpPr/>
          <p:nvPr/>
        </p:nvSpPr>
        <p:spPr>
          <a:xfrm>
            <a:off x="1266825" y="2728913"/>
            <a:ext cx="75935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.github/skills/webapp-testing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66825" y="3186113"/>
            <a:ext cx="75935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vim SKILL.md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6825" y="3643313"/>
            <a:ext cx="75935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frontmatter + steps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66825" y="4100513"/>
            <a:ext cx="75935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reload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66825" y="4557713"/>
            <a:ext cx="75935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/skills info webapp-testing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6825" y="5014913"/>
            <a:ext cx="75935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prompt normally — Copilot decides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66825" y="5472113"/>
            <a:ext cx="75935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7778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when to pull it 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34500" y="2109788"/>
            <a:ext cx="8801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9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334500" y="2547938"/>
            <a:ext cx="8241030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025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anthropics/skills </a:t>
            </a:r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agent interviews you, scaffolds the skill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34500" y="3675608"/>
            <a:ext cx="8801100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025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awesome-copilot </a:t>
            </a:r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community skill index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334500" y="4315644"/>
            <a:ext cx="8801100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378"/>
              </a:lnSpc>
              <a:buNone/>
            </a:pPr>
            <a:r>
              <a:rPr lang="en-US" sz="2025" dirty="0">
                <a:solidFill>
                  <a:srgbClr val="00E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skill </a:t>
            </a:r>
            <a:pPr algn="l" indent="0" marL="0">
              <a:lnSpc>
                <a:spcPct val="138378"/>
              </a:lnSpc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discover, preview, install from repos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34500" y="5069979"/>
            <a:ext cx="88011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9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334500" y="5508129"/>
            <a:ext cx="824103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</a:t>
            </a:r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.github/skills/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34500" y="5972919"/>
            <a:ext cx="824103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.claude/skills/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334500" y="6437709"/>
            <a:ext cx="824103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.agents/skills/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34500" y="6902500"/>
            <a:ext cx="824103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Personal </a:t>
            </a:r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~/.copilot/skills/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34500" y="7367290"/>
            <a:ext cx="8241030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1111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~/.agents/skills/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34500" y="8439150"/>
            <a:ext cx="8001000" cy="1085850"/>
          </a:xfrm>
          <a:prstGeom prst="roundRect">
            <a:avLst>
              <a:gd name="adj" fmla="val 7018"/>
            </a:avLst>
          </a:prstGeom>
          <a:solidFill>
            <a:srgbClr val="13132A"/>
          </a:solidFill>
          <a:ln/>
        </p:spPr>
      </p:sp>
      <p:sp>
        <p:nvSpPr>
          <p:cNvPr id="25" name="Text 23"/>
          <p:cNvSpPr/>
          <p:nvPr/>
        </p:nvSpPr>
        <p:spPr>
          <a:xfrm>
            <a:off x="9563100" y="8610600"/>
            <a:ext cx="7770114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Copilot cloud agent, code review, CLI, the Copilot app, and agent mode in VS Code and JetBrains.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spc="-96" kern="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Good, Bad, and Broken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1995487"/>
            <a:ext cx="8039100" cy="3333750"/>
          </a:xfrm>
          <a:prstGeom prst="roundRect">
            <a:avLst>
              <a:gd name="adj" fmla="val 2857"/>
            </a:avLst>
          </a:prstGeom>
          <a:solidFill>
            <a:srgbClr val="13132A"/>
          </a:solidFill>
          <a:ln/>
        </p:spPr>
      </p:sp>
      <p:sp>
        <p:nvSpPr>
          <p:cNvPr id="4" name="Shape 2"/>
          <p:cNvSpPr/>
          <p:nvPr/>
        </p:nvSpPr>
        <p:spPr>
          <a:xfrm>
            <a:off x="952500" y="1995487"/>
            <a:ext cx="8039100" cy="28575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2290763"/>
            <a:ext cx="82562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SKILLS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19200" y="2747963"/>
            <a:ext cx="8256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procedure, team-specific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19200" y="3233738"/>
            <a:ext cx="8256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steps, numbered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19200" y="3719512"/>
            <a:ext cx="8256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for anything the model shouldn't improvise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19200" y="4205288"/>
            <a:ext cx="8256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rules at the top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19200" y="4691063"/>
            <a:ext cx="8256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skill, one job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296400" y="1995487"/>
            <a:ext cx="8039100" cy="3333750"/>
          </a:xfrm>
          <a:prstGeom prst="roundRect">
            <a:avLst>
              <a:gd name="adj" fmla="val 2857"/>
            </a:avLst>
          </a:prstGeom>
          <a:solidFill>
            <a:srgbClr val="13132A"/>
          </a:solidFill>
          <a:ln/>
        </p:spPr>
      </p:sp>
      <p:sp>
        <p:nvSpPr>
          <p:cNvPr id="12" name="Shape 10"/>
          <p:cNvSpPr/>
          <p:nvPr/>
        </p:nvSpPr>
        <p:spPr>
          <a:xfrm>
            <a:off x="9296400" y="1995487"/>
            <a:ext cx="8039100" cy="2857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9563100" y="2290763"/>
            <a:ext cx="82562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78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SKILLS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563100" y="2747963"/>
            <a:ext cx="8256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knowledge the model already has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63100" y="3233738"/>
            <a:ext cx="8256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2,000-line dump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563100" y="3719512"/>
            <a:ext cx="8256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description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563100" y="4205288"/>
            <a:ext cx="825627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skill doing four jobs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52500" y="5595938"/>
            <a:ext cx="16383000" cy="2011635"/>
          </a:xfrm>
          <a:prstGeom prst="roundRect">
            <a:avLst>
              <a:gd name="adj" fmla="val 4735"/>
            </a:avLst>
          </a:prstGeom>
          <a:solidFill>
            <a:srgbClr val="1A1A35"/>
          </a:solidFill>
          <a:ln/>
        </p:spPr>
      </p:sp>
      <p:sp>
        <p:nvSpPr>
          <p:cNvPr id="19" name="Text 17"/>
          <p:cNvSpPr/>
          <p:nvPr/>
        </p:nvSpPr>
        <p:spPr>
          <a:xfrm>
            <a:off x="1219200" y="5824538"/>
            <a:ext cx="174345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59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19200" y="6243638"/>
            <a:ext cx="564385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fires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19200" y="6647483"/>
            <a:ext cx="564385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 lacks trigger words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78575" y="6243638"/>
            <a:ext cx="564385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don't run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78575" y="6647483"/>
            <a:ext cx="5284698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 agent mode, or runtime missing from PATH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937950" y="6243638"/>
            <a:ext cx="564393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18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Half-followed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937950" y="6647483"/>
            <a:ext cx="5284775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222"/>
              </a:lnSpc>
              <a:buNone/>
            </a:pPr>
            <a:r>
              <a:rPr lang="en-US" sz="1800" dirty="0">
                <a:solidFill>
                  <a:srgbClr val="888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SKILL.md too long or ambiguous; hoist and number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52500" y="8191500"/>
            <a:ext cx="16383000" cy="1333500"/>
          </a:xfrm>
          <a:prstGeom prst="roundRect">
            <a:avLst>
              <a:gd name="adj" fmla="val 5714"/>
            </a:avLst>
          </a:prstGeom>
          <a:solidFill>
            <a:srgbClr val="00E5A0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2500" y="8191500"/>
            <a:ext cx="28575" cy="133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28" name="Text 26"/>
          <p:cNvSpPr/>
          <p:nvPr/>
        </p:nvSpPr>
        <p:spPr>
          <a:xfrm>
            <a:off x="1247775" y="8401050"/>
            <a:ext cx="1629565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30"/>
              </a:lnSpc>
              <a:buNone/>
            </a:pPr>
            <a:r>
              <a:rPr lang="en-US" sz="2400" dirty="0">
                <a:solidFill>
                  <a:srgbClr val="E2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thing your team explains to every new hire. Write it as one SKILL.md. Commit it. Open standard — works with Claude Code, Codex, and Cursor.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2026-08-27T13:46:28Z</dcterms:created>
  <dcterms:modified xsi:type="dcterms:W3CDTF">2026-08-27T13:46:28Z</dcterms:modified>
</cp:coreProperties>
</file>